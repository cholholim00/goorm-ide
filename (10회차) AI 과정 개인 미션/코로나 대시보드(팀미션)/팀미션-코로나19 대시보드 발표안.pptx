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Lato Bold" panose="020F0502020204030203" pitchFamily="34" charset="0"/>
      <p:regular r:id="rId15"/>
      <p:bold r:id="rId16"/>
    </p:embeddedFont>
    <p:embeddedFont>
      <p:font typeface="Montserrat Bold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94598" autoAdjust="0"/>
  </p:normalViewPr>
  <p:slideViewPr>
    <p:cSldViewPr>
      <p:cViewPr varScale="1">
        <p:scale>
          <a:sx n="100" d="100"/>
          <a:sy n="100" d="100"/>
        </p:scale>
        <p:origin x="9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3258" y="1344071"/>
            <a:ext cx="8115300" cy="8229600"/>
            <a:chOff x="0" y="0"/>
            <a:chExt cx="1257272" cy="1274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7272" cy="1274980"/>
            </a:xfrm>
            <a:custGeom>
              <a:avLst/>
              <a:gdLst/>
              <a:ahLst/>
              <a:cxnLst/>
              <a:rect l="l" t="t" r="r" b="b"/>
              <a:pathLst>
                <a:path w="1257272" h="1274980">
                  <a:moveTo>
                    <a:pt x="47700" y="0"/>
                  </a:moveTo>
                  <a:lnTo>
                    <a:pt x="1209573" y="0"/>
                  </a:lnTo>
                  <a:cubicBezTo>
                    <a:pt x="1222223" y="0"/>
                    <a:pt x="1234356" y="5025"/>
                    <a:pt x="1243301" y="13971"/>
                  </a:cubicBezTo>
                  <a:cubicBezTo>
                    <a:pt x="1252247" y="22916"/>
                    <a:pt x="1257272" y="35049"/>
                    <a:pt x="1257272" y="47700"/>
                  </a:cubicBezTo>
                  <a:lnTo>
                    <a:pt x="1257272" y="1227281"/>
                  </a:lnTo>
                  <a:cubicBezTo>
                    <a:pt x="1257272" y="1239932"/>
                    <a:pt x="1252247" y="1252064"/>
                    <a:pt x="1243301" y="1261010"/>
                  </a:cubicBezTo>
                  <a:cubicBezTo>
                    <a:pt x="1234356" y="1269955"/>
                    <a:pt x="1222223" y="1274980"/>
                    <a:pt x="1209573" y="1274980"/>
                  </a:cubicBezTo>
                  <a:lnTo>
                    <a:pt x="47700" y="1274980"/>
                  </a:lnTo>
                  <a:cubicBezTo>
                    <a:pt x="35049" y="1274980"/>
                    <a:pt x="22916" y="1269955"/>
                    <a:pt x="13971" y="1261010"/>
                  </a:cubicBezTo>
                  <a:cubicBezTo>
                    <a:pt x="5025" y="1252064"/>
                    <a:pt x="0" y="1239932"/>
                    <a:pt x="0" y="122728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blipFill>
              <a:blip r:embed="rId2"/>
              <a:stretch>
                <a:fillRect l="-41153" r="-41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72405" y="1905689"/>
            <a:ext cx="136855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2026-02-10</a:t>
            </a:r>
          </a:p>
        </p:txBody>
      </p:sp>
      <p:sp>
        <p:nvSpPr>
          <p:cNvPr id="5" name="Freeform 5"/>
          <p:cNvSpPr/>
          <p:nvPr/>
        </p:nvSpPr>
        <p:spPr>
          <a:xfrm>
            <a:off x="14080763" y="-1185139"/>
            <a:ext cx="5863273" cy="5767994"/>
          </a:xfrm>
          <a:custGeom>
            <a:avLst/>
            <a:gdLst/>
            <a:ahLst/>
            <a:cxnLst/>
            <a:rect l="l" t="t" r="r" b="b"/>
            <a:pathLst>
              <a:path w="5863273" h="5767994">
                <a:moveTo>
                  <a:pt x="0" y="0"/>
                </a:moveTo>
                <a:lnTo>
                  <a:pt x="5863272" y="0"/>
                </a:lnTo>
                <a:lnTo>
                  <a:pt x="5863272" y="5767995"/>
                </a:lnTo>
                <a:lnTo>
                  <a:pt x="0" y="5767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1340962" y="2058089"/>
            <a:ext cx="5918338" cy="0"/>
          </a:xfrm>
          <a:prstGeom prst="line">
            <a:avLst/>
          </a:prstGeom>
          <a:ln w="38100" cap="flat">
            <a:solidFill>
              <a:srgbClr val="32CA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9541963" y="917305"/>
            <a:ext cx="8086161" cy="78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5895" b="1" spc="-29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팀미션: 코로나19 대시보드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2608198"/>
            <a:ext cx="8804321" cy="567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그룹별 활동</a:t>
            </a:r>
          </a:p>
          <a:p>
            <a:pPr algn="l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그룹(1): 데이터 수집 및 전처리 (2명)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이름: 임동영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이름: 최호림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할 일: 질병관리청이나 공공데이터 포털에서 CSV 파일을 다운로드하거나 API를 연결합니다.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목표: NaN(결측치) 처리하기, 날짜 형식을 시각화하기 좋게 바꾸기.</a:t>
            </a:r>
          </a:p>
          <a:p>
            <a:pPr algn="l">
              <a:lnSpc>
                <a:spcPts val="2033"/>
              </a:lnSpc>
            </a:pPr>
            <a:endParaRPr lang="en-US" sz="1452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그룹(2): 테마별 분석 (6명)</a:t>
            </a:r>
          </a:p>
          <a:p>
            <a:pPr algn="l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분석 주제를 쪼개서 각자 그래프를 만듭니다.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A팀: 국내 확진자/사망자 추이 (라인 차트) - (A)이름: 박소현, 정유진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B팀: 지역별 확진 현황 (지도 그래프 또는 막대 그래프) - (B)이름: 전재영, 김해강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C팀: 백신 접종률 vs 중증화율 상관관계 (산점도) - (C)이름: 김유림, 최호림</a:t>
            </a:r>
          </a:p>
          <a:p>
            <a:pPr algn="l">
              <a:lnSpc>
                <a:spcPts val="2033"/>
              </a:lnSpc>
            </a:pPr>
            <a:endParaRPr lang="en-US" sz="1452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그룹(3): 대시보드 통합 및 배포 (3명)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인원 명단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이름: 신관호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이름: 조솔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이름: 신아람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할 일: 각 팀이 만든 그래프를 한 페이지에 배치합니다.</a:t>
            </a:r>
          </a:p>
          <a:p>
            <a:pPr marL="313568" lvl="1" indent="-156784" algn="l">
              <a:lnSpc>
                <a:spcPts val="2033"/>
              </a:lnSpc>
              <a:buFont typeface="Arial"/>
              <a:buChar char="•"/>
            </a:pPr>
            <a:r>
              <a:rPr lang="en-US" sz="145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목표: Streamlit의 사이드바를 만들어 "지역 선택" 기능을 넣는 등 사용자 UI 구성.</a:t>
            </a:r>
          </a:p>
          <a:p>
            <a:pPr algn="l">
              <a:lnSpc>
                <a:spcPts val="2033"/>
              </a:lnSpc>
            </a:pPr>
            <a:endParaRPr lang="en-US" sz="1452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033"/>
              </a:lnSpc>
              <a:spcBef>
                <a:spcPct val="0"/>
              </a:spcBef>
            </a:pPr>
            <a:endParaRPr lang="en-US" sz="1452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5646" y="-1623841"/>
            <a:ext cx="5863273" cy="5767994"/>
          </a:xfrm>
          <a:custGeom>
            <a:avLst/>
            <a:gdLst/>
            <a:ahLst/>
            <a:cxnLst/>
            <a:rect l="l" t="t" r="r" b="b"/>
            <a:pathLst>
              <a:path w="5863273" h="5767994">
                <a:moveTo>
                  <a:pt x="0" y="0"/>
                </a:moveTo>
                <a:lnTo>
                  <a:pt x="5863273" y="0"/>
                </a:lnTo>
                <a:lnTo>
                  <a:pt x="5863273" y="5767994"/>
                </a:lnTo>
                <a:lnTo>
                  <a:pt x="0" y="5767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038080" y="1028700"/>
            <a:ext cx="6221220" cy="8229600"/>
            <a:chOff x="0" y="0"/>
            <a:chExt cx="660400" cy="8735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73595"/>
            </a:xfrm>
            <a:custGeom>
              <a:avLst/>
              <a:gdLst/>
              <a:ahLst/>
              <a:cxnLst/>
              <a:rect l="l" t="t" r="r" b="b"/>
              <a:pathLst>
                <a:path w="660400" h="873595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9852"/>
                  </a:cubicBezTo>
                  <a:lnTo>
                    <a:pt x="660400" y="873595"/>
                  </a:lnTo>
                  <a:lnTo>
                    <a:pt x="0" y="873595"/>
                  </a:lnTo>
                  <a:lnTo>
                    <a:pt x="0" y="33025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4"/>
              <a:stretch>
                <a:fillRect l="-43568" r="-43568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811348" y="1285875"/>
            <a:ext cx="5565307" cy="270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8000" b="1" spc="-16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COVID-19 Table  </a:t>
            </a:r>
            <a:r>
              <a:rPr lang="en-US" sz="8000" b="1" spc="-160">
                <a:solidFill>
                  <a:srgbClr val="32CAA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903" y="5729570"/>
            <a:ext cx="5178034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21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데이터 정복 및 가공 (Data Engineering)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3247" y="6846172"/>
            <a:ext cx="5861439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21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인사이트 도출 및 시각화 (EDA &amp; Visualization)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903" y="9075652"/>
            <a:ext cx="4803896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21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최적화 및 배포 (UI/UX &amp; Deployment)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3247" y="7962774"/>
            <a:ext cx="5065816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21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대시보드 웹 구현 (Web Development)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0023" y="5729570"/>
            <a:ext cx="1157983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44"/>
              </a:lnSpc>
            </a:pPr>
            <a:r>
              <a:rPr lang="en-US" sz="216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14367" y="6846172"/>
            <a:ext cx="1157983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44"/>
              </a:lnSpc>
            </a:pPr>
            <a:r>
              <a:rPr lang="en-US" sz="216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14367" y="7962774"/>
            <a:ext cx="1157983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44"/>
              </a:lnSpc>
            </a:pPr>
            <a:r>
              <a:rPr lang="en-US" sz="216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30023" y="9075652"/>
            <a:ext cx="1157983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44"/>
              </a:lnSpc>
            </a:pPr>
            <a:r>
              <a:rPr lang="en-US" sz="216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903" y="4612969"/>
            <a:ext cx="5178034" cy="2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21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67200" y="1490060"/>
            <a:ext cx="8894498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27303" lvl="1" indent="-863651" algn="l">
              <a:lnSpc>
                <a:spcPts val="6960"/>
              </a:lnSpc>
              <a:buAutoNum type="arabicPeriod"/>
            </a:pP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프로젝트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개요</a:t>
            </a:r>
            <a:endParaRPr lang="en-US" sz="8000" b="1" spc="-160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569190"/>
            <a:ext cx="16042794" cy="194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27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1-1. 배경 및 목적 질병관리청(KDCA)에서 제공하는 코로나19 공공 데이터는 방대한 양을 담고 있으나, </a:t>
            </a:r>
          </a:p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27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비정형적인 엑셀 포맷과 파편화된 파일 구조로 인해 일반인이 직관적으로 이해하기 어려웠습니다. </a:t>
            </a:r>
          </a:p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27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본 프로젝트는 이러한 데이터를 정제 및 통합하여, “확진자 추이, 지역별 확산세, 백신 접종 효과”를 한눈에 파악할 수 있는 인터랙티브 웹 대시보드를 구축하는 것을 목표로 했습니다.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904" y="6677242"/>
            <a:ext cx="17332192" cy="2341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  <a:spcBef>
                <a:spcPct val="0"/>
              </a:spcBef>
            </a:pPr>
            <a:r>
              <a:rPr lang="en-US" sz="224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1-2. 주요 성과</a:t>
            </a:r>
          </a:p>
          <a:p>
            <a:pPr marL="484916" lvl="1" indent="-242458" algn="l">
              <a:lnSpc>
                <a:spcPts val="3144"/>
              </a:lnSpc>
              <a:spcBef>
                <a:spcPct val="0"/>
              </a:spcBef>
              <a:buFont typeface="Arial"/>
              <a:buChar char="•"/>
            </a:pPr>
            <a:r>
              <a:rPr lang="en-US" sz="224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데이터 파이프라인 구축: 4종의 이질적인 원본 데이터(일별, 성별, 지역별, 백신)를 하나의 통합 데이터베이스로 자동 변환하는 전처리 모듈 개발. </a:t>
            </a:r>
          </a:p>
          <a:p>
            <a:pPr algn="l">
              <a:lnSpc>
                <a:spcPts val="3144"/>
              </a:lnSpc>
              <a:spcBef>
                <a:spcPct val="0"/>
              </a:spcBef>
            </a:pPr>
            <a:endParaRPr lang="en-US" sz="2246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484916" lvl="1" indent="-242458" algn="l">
              <a:lnSpc>
                <a:spcPts val="3144"/>
              </a:lnSpc>
              <a:spcBef>
                <a:spcPct val="0"/>
              </a:spcBef>
              <a:buFont typeface="Arial"/>
              <a:buChar char="•"/>
            </a:pPr>
            <a:r>
              <a:rPr lang="en-US" sz="224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웹 서비스 배포: `Streamlit` 프레임워크를 활용하여 별도의 프론트엔드 개발 없이 데이터 분석 결과를 즉시 웹 서비스로 구현. </a:t>
            </a:r>
          </a:p>
          <a:p>
            <a:pPr algn="l">
              <a:lnSpc>
                <a:spcPts val="3144"/>
              </a:lnSpc>
              <a:spcBef>
                <a:spcPct val="0"/>
              </a:spcBef>
            </a:pPr>
            <a:endParaRPr lang="en-US" sz="2246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484916" lvl="1" indent="-242458" algn="l">
              <a:lnSpc>
                <a:spcPts val="3144"/>
              </a:lnSpc>
              <a:spcBef>
                <a:spcPct val="0"/>
              </a:spcBef>
              <a:buFont typeface="Arial"/>
              <a:buChar char="•"/>
            </a:pPr>
            <a:r>
              <a:rPr lang="en-US" sz="224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고급 시각화 구현: 정적인 그래프를 넘어, 시간에 따라 움직이는 “Racing Bar Chart”와 “Dual-Axis Chart” 등  시각화 기술 적용.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1" y="680075"/>
            <a:ext cx="14653856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27303" lvl="1" indent="-863651" algn="l">
              <a:lnSpc>
                <a:spcPts val="6960"/>
              </a:lnSpc>
              <a:buAutoNum type="arabicPeriod"/>
            </a:pP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팀별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역할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및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구현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기능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(1조)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68788" y="3055733"/>
            <a:ext cx="8947212" cy="366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데이터</a:t>
            </a:r>
            <a:r>
              <a:rPr 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  <a:r>
              <a:rPr 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파이프라인</a:t>
            </a:r>
            <a:r>
              <a:rPr 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-</a:t>
            </a:r>
            <a:r>
              <a:rPr lang="ko-KR" alt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project_reset.py</a:t>
            </a:r>
            <a:endParaRPr lang="en-US" sz="3263" b="1" spc="-65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2239" y="4035458"/>
            <a:ext cx="16042794" cy="4610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본 프로젝트의 핵심 기술력은 복잡한 원본 데이터를 처리하는 자동화 스크립트에 있습니다.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endParaRPr lang="en-US" sz="2634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1. Wide-to-Long 변환: B팀의 Racing Bar 구현을 위해 피벗(Pivot)된 지역 데이터를 시각화 라이브러리가 요구하는 형태(Melted Format)로 변환.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endParaRPr lang="en-US" sz="2634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2. 결측치(NaN) 처리: 백신 접종 시작 전 데이터나 누락된 날짜 데이터를 `0` 또는 `fillna` 메서드로 보정하여 그래프 깨짐 방지.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endParaRPr lang="en-US" sz="2634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3. 동적 컬럼 매핑: 원본 파일의 한글 컬럼명(`일자`, `시도명`)을 영문 표준 컬럼명(`date`, `region`)으로 자동 변환하여 코드 호환성 확보.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680075"/>
            <a:ext cx="16816107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27303" lvl="1" indent="-863651" algn="l">
              <a:lnSpc>
                <a:spcPts val="6960"/>
              </a:lnSpc>
              <a:buAutoNum type="arabicPeriod"/>
            </a:pPr>
            <a:r>
              <a:rPr lang="en-US" sz="8000" b="1" spc="-16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팀별 역할 및 구현 기능(2조) - A팀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14600" y="1813750"/>
            <a:ext cx="12954811" cy="2835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9"/>
              </a:lnSpc>
              <a:spcBef>
                <a:spcPct val="0"/>
              </a:spcBef>
            </a:pPr>
            <a:r>
              <a:rPr lang="en-US" sz="17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📈 Team A: </a:t>
            </a:r>
            <a:r>
              <a:rPr lang="en-US" sz="17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종합</a:t>
            </a:r>
            <a:r>
              <a:rPr lang="en-US" sz="17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추이</a:t>
            </a:r>
            <a:r>
              <a:rPr lang="en-US" sz="17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분석</a:t>
            </a:r>
            <a:endParaRPr lang="en-US" sz="1728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2699"/>
              </a:lnSpc>
              <a:spcBef>
                <a:spcPct val="0"/>
              </a:spcBef>
            </a:pPr>
            <a:r>
              <a:rPr lang="en-US" sz="19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</a:p>
          <a:p>
            <a:pPr algn="ctr">
              <a:lnSpc>
                <a:spcPts val="3679"/>
              </a:lnSpc>
              <a:spcBef>
                <a:spcPct val="0"/>
              </a:spcBef>
            </a:pP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목표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팬데믹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기간의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시계열적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변화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흐름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파악</a:t>
            </a:r>
            <a:r>
              <a:rPr lang="en-US" sz="26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algn="ctr">
              <a:lnSpc>
                <a:spcPts val="3679"/>
              </a:lnSpc>
              <a:spcBef>
                <a:spcPct val="0"/>
              </a:spcBef>
            </a:pPr>
            <a:endParaRPr lang="en-US" sz="2628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3679"/>
              </a:lnSpc>
              <a:spcBef>
                <a:spcPct val="0"/>
              </a:spcBef>
            </a:pPr>
            <a:r>
              <a:rPr lang="en-US" sz="26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구현</a:t>
            </a:r>
            <a:endParaRPr lang="en-US" sz="2628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81112" lvl="1" indent="-240556" algn="ctr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일별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신규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확진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사망자와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누적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확진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사망자를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상하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2단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레이아웃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(`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make_subplots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`)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으로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배치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81112" lvl="1" indent="-240556" algn="ctr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확진자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(Bar)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와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사망자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(Line)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를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이중축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(Dual Axis)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으로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표현하여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스케일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차이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극복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및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상관관계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8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가시화</a:t>
            </a:r>
            <a:r>
              <a:rPr lang="en-US" sz="222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4024403" y="4871285"/>
            <a:ext cx="10186310" cy="5513340"/>
          </a:xfrm>
          <a:custGeom>
            <a:avLst/>
            <a:gdLst/>
            <a:ahLst/>
            <a:cxnLst/>
            <a:rect l="l" t="t" r="r" b="b"/>
            <a:pathLst>
              <a:path w="10186310" h="5513340">
                <a:moveTo>
                  <a:pt x="0" y="0"/>
                </a:moveTo>
                <a:lnTo>
                  <a:pt x="10186310" y="0"/>
                </a:lnTo>
                <a:lnTo>
                  <a:pt x="10186310" y="5513340"/>
                </a:lnTo>
                <a:lnTo>
                  <a:pt x="0" y="55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CE323D-D65A-B588-C851-D1C988C2F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195113"/>
            <a:ext cx="7086600" cy="4411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00" y="680075"/>
            <a:ext cx="16739907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27303" lvl="1" indent="-863651" algn="l">
              <a:lnSpc>
                <a:spcPts val="6960"/>
              </a:lnSpc>
              <a:buAutoNum type="arabicPeriod"/>
            </a:pP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팀별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역할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및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구현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기능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(2조) -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B팀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14601" y="1825476"/>
            <a:ext cx="11458412" cy="2863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22"/>
              </a:lnSpc>
              <a:spcBef>
                <a:spcPct val="0"/>
              </a:spcBef>
            </a:pPr>
            <a:r>
              <a:rPr lang="en-US" sz="17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🗺️ Team B: </a:t>
            </a:r>
            <a:r>
              <a:rPr lang="en-US" sz="17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지역별</a:t>
            </a:r>
            <a:r>
              <a:rPr lang="en-US" sz="17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확산</a:t>
            </a:r>
            <a:r>
              <a:rPr lang="en-US" sz="17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분석</a:t>
            </a:r>
            <a:endParaRPr lang="en-US" sz="173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2752"/>
              </a:lnSpc>
              <a:spcBef>
                <a:spcPct val="0"/>
              </a:spcBef>
            </a:pPr>
            <a:endParaRPr lang="en-US" sz="173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목표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전국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17개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시도의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확진자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발생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규모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비교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및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변화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양상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추적</a:t>
            </a:r>
            <a:r>
              <a:rPr lang="en-US" sz="263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algn="ctr">
              <a:lnSpc>
                <a:spcPts val="3682"/>
              </a:lnSpc>
              <a:spcBef>
                <a:spcPct val="0"/>
              </a:spcBef>
            </a:pPr>
            <a:endParaRPr lang="en-US" sz="263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구현</a:t>
            </a:r>
            <a:endParaRPr lang="en-US" sz="263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81456" lvl="1" indent="-240728" algn="l">
              <a:lnSpc>
                <a:spcPts val="3121"/>
              </a:lnSpc>
              <a:spcBef>
                <a:spcPct val="0"/>
              </a:spcBef>
              <a:buFont typeface="Arial"/>
              <a:buChar char="•"/>
            </a:pP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초기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정적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맵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(Map)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의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한계를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극복하기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위해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“Racing Bar Chart”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도입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481456" lvl="1" indent="-240728" algn="l">
              <a:lnSpc>
                <a:spcPts val="3121"/>
              </a:lnSpc>
              <a:spcBef>
                <a:spcPct val="0"/>
              </a:spcBef>
              <a:buFont typeface="Arial"/>
              <a:buChar char="•"/>
            </a:pP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재생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(▶)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버튼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클릭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시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날짜별로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지역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순위가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실시간으로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변동하는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애니메이션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2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구현</a:t>
            </a:r>
            <a:r>
              <a:rPr lang="en-US" sz="222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4024403" y="4871285"/>
            <a:ext cx="10186310" cy="5513340"/>
          </a:xfrm>
          <a:custGeom>
            <a:avLst/>
            <a:gdLst/>
            <a:ahLst/>
            <a:cxnLst/>
            <a:rect l="l" t="t" r="r" b="b"/>
            <a:pathLst>
              <a:path w="10186310" h="5513340">
                <a:moveTo>
                  <a:pt x="0" y="0"/>
                </a:moveTo>
                <a:lnTo>
                  <a:pt x="10186310" y="0"/>
                </a:lnTo>
                <a:lnTo>
                  <a:pt x="10186310" y="5513340"/>
                </a:lnTo>
                <a:lnTo>
                  <a:pt x="0" y="55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5F65FD-98D5-760A-DD63-63D272045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201847"/>
            <a:ext cx="7086600" cy="44050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680075"/>
            <a:ext cx="16816107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27303" lvl="1" indent="-863651" algn="l">
              <a:lnSpc>
                <a:spcPts val="6960"/>
              </a:lnSpc>
              <a:buAutoNum type="arabicPeriod"/>
            </a:pP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팀별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역할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및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구현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기능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(2조) -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C팀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63154" y="1844526"/>
            <a:ext cx="13111162" cy="277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2"/>
              </a:lnSpc>
              <a:spcBef>
                <a:spcPct val="0"/>
              </a:spcBef>
            </a:pPr>
            <a:r>
              <a:rPr lang="en-US" sz="17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💉Team C: 백신 효과성 검증</a:t>
            </a:r>
          </a:p>
          <a:p>
            <a:pPr algn="ctr">
              <a:lnSpc>
                <a:spcPts val="2422"/>
              </a:lnSpc>
              <a:spcBef>
                <a:spcPct val="0"/>
              </a:spcBef>
            </a:pPr>
            <a:endParaRPr lang="en-US" sz="173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목표:백신 접종률 상승이 사망률 감소에 미치는 영향 분석. </a:t>
            </a:r>
          </a:p>
          <a:p>
            <a:pPr algn="ctr">
              <a:lnSpc>
                <a:spcPts val="3682"/>
              </a:lnSpc>
              <a:spcBef>
                <a:spcPct val="0"/>
              </a:spcBef>
            </a:pPr>
            <a:endParaRPr lang="en-US" sz="263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구현</a:t>
            </a:r>
          </a:p>
          <a:p>
            <a:pPr marL="481456" lvl="1" indent="-240728" algn="l">
              <a:lnSpc>
                <a:spcPts val="3121"/>
              </a:lnSpc>
              <a:spcBef>
                <a:spcPct val="0"/>
              </a:spcBef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누적 백신 접종 데이터**와 **일일 사망자 데이터**를 결합. </a:t>
            </a:r>
          </a:p>
          <a:p>
            <a:pPr marL="481456" lvl="1" indent="-240728" algn="l">
              <a:lnSpc>
                <a:spcPts val="3121"/>
              </a:lnSpc>
              <a:spcBef>
                <a:spcPct val="0"/>
              </a:spcBef>
              <a:buFont typeface="Arial"/>
              <a:buChar char="•"/>
            </a:pPr>
            <a:r>
              <a:rPr lang="en-US" sz="2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백신 접종 그래프(선)가 상승하는 구간에서 사망자 그래프(막대)의 변동폭이 줄어드는 패턴을 시각적으로 입증.</a:t>
            </a:r>
          </a:p>
        </p:txBody>
      </p:sp>
      <p:sp>
        <p:nvSpPr>
          <p:cNvPr id="4" name="Freeform 4"/>
          <p:cNvSpPr/>
          <p:nvPr/>
        </p:nvSpPr>
        <p:spPr>
          <a:xfrm>
            <a:off x="4024403" y="4871285"/>
            <a:ext cx="10186310" cy="5513340"/>
          </a:xfrm>
          <a:custGeom>
            <a:avLst/>
            <a:gdLst/>
            <a:ahLst/>
            <a:cxnLst/>
            <a:rect l="l" t="t" r="r" b="b"/>
            <a:pathLst>
              <a:path w="10186310" h="5513340">
                <a:moveTo>
                  <a:pt x="0" y="0"/>
                </a:moveTo>
                <a:lnTo>
                  <a:pt x="10186310" y="0"/>
                </a:lnTo>
                <a:lnTo>
                  <a:pt x="10186310" y="5513340"/>
                </a:lnTo>
                <a:lnTo>
                  <a:pt x="0" y="55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C9C77B-F45F-43B4-40BA-2066CE4DF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258" y="5156200"/>
            <a:ext cx="7086600" cy="4463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9862" y="680075"/>
            <a:ext cx="16042793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27303" lvl="1" indent="-863651" algn="l">
              <a:lnSpc>
                <a:spcPts val="6960"/>
              </a:lnSpc>
              <a:buAutoNum type="arabicPeriod"/>
            </a:pP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대시보드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구현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및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-160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빌드기능</a:t>
            </a:r>
            <a:r>
              <a:rPr lang="en-US" sz="8000" b="1" spc="-16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(3조)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73851" y="2019300"/>
            <a:ext cx="8340297" cy="38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데이터</a:t>
            </a:r>
            <a:r>
              <a:rPr 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  <a:r>
              <a:rPr 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파이프라인</a:t>
            </a:r>
            <a:r>
              <a:rPr lang="en-US" sz="3263" b="1" spc="-6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- </a:t>
            </a:r>
            <a:r>
              <a:rPr lang="en-US" sz="3263" b="1" spc="-65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main.py</a:t>
            </a:r>
            <a:endParaRPr lang="en-US" sz="3263" b="1" spc="-65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62000" y="2705100"/>
            <a:ext cx="16042794" cy="27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프레임워크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: `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Streamlit`을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사용하여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Python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코드만으로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UI/UX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구현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. 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endParaRPr lang="en-US" sz="2634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레이아웃</a:t>
            </a:r>
            <a:endParaRPr lang="en-US" sz="2634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568736" lvl="1" indent="-284368" algn="ctr">
              <a:lnSpc>
                <a:spcPts val="3687"/>
              </a:lnSpc>
              <a:spcBef>
                <a:spcPct val="0"/>
              </a:spcBef>
              <a:buFont typeface="Arial"/>
              <a:buChar char="•"/>
            </a:pP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Sidebar: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분석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기간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(Date Range)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설정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및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관심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지역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필터링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기능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. </a:t>
            </a:r>
          </a:p>
          <a:p>
            <a:pPr marL="568736" lvl="1" indent="-284368" algn="ctr">
              <a:lnSpc>
                <a:spcPts val="3687"/>
              </a:lnSpc>
              <a:spcBef>
                <a:spcPct val="0"/>
              </a:spcBef>
              <a:buFont typeface="Arial"/>
              <a:buChar char="•"/>
            </a:pP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Main: 3개의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탭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(Tabs)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구조로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정보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과부하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방지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및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사용자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경험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최적화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. </a:t>
            </a:r>
          </a:p>
          <a:p>
            <a:pPr marL="568736" lvl="1" indent="-284368" algn="ctr">
              <a:lnSpc>
                <a:spcPts val="3687"/>
              </a:lnSpc>
              <a:spcBef>
                <a:spcPct val="0"/>
              </a:spcBef>
              <a:buFont typeface="Arial"/>
              <a:buChar char="•"/>
            </a:pP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Metrics: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최상단에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핵심성과지표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(KPI)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를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배치하여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주요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수치를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즉시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파악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가능하도록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634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설계</a:t>
            </a:r>
            <a:r>
              <a:rPr lang="en-US" sz="2634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7BB8F8-C33C-312A-91FA-ED7BD8A4C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5981700"/>
            <a:ext cx="1508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7FA">
                <a:alpha val="100000"/>
              </a:srgbClr>
            </a:gs>
            <a:gs pos="100000">
              <a:srgbClr val="CFF1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988" y="4276537"/>
            <a:ext cx="5863273" cy="5767994"/>
          </a:xfrm>
          <a:custGeom>
            <a:avLst/>
            <a:gdLst/>
            <a:ahLst/>
            <a:cxnLst/>
            <a:rect l="l" t="t" r="r" b="b"/>
            <a:pathLst>
              <a:path w="5863273" h="5767994">
                <a:moveTo>
                  <a:pt x="0" y="0"/>
                </a:moveTo>
                <a:lnTo>
                  <a:pt x="5863273" y="0"/>
                </a:lnTo>
                <a:lnTo>
                  <a:pt x="5863273" y="5767994"/>
                </a:lnTo>
                <a:lnTo>
                  <a:pt x="0" y="5767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397257" y="2058089"/>
            <a:ext cx="5918338" cy="0"/>
          </a:xfrm>
          <a:prstGeom prst="line">
            <a:avLst/>
          </a:prstGeom>
          <a:ln w="38100" cap="flat">
            <a:solidFill>
              <a:srgbClr val="32CA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746474" y="3891387"/>
            <a:ext cx="9325087" cy="6153144"/>
          </a:xfrm>
          <a:custGeom>
            <a:avLst/>
            <a:gdLst/>
            <a:ahLst/>
            <a:cxnLst/>
            <a:rect l="l" t="t" r="r" b="b"/>
            <a:pathLst>
              <a:path w="9325087" h="6153144">
                <a:moveTo>
                  <a:pt x="0" y="0"/>
                </a:moveTo>
                <a:lnTo>
                  <a:pt x="9325087" y="0"/>
                </a:lnTo>
                <a:lnTo>
                  <a:pt x="9325087" y="6153144"/>
                </a:lnTo>
                <a:lnTo>
                  <a:pt x="0" y="6153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15" r="-891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05689"/>
            <a:ext cx="136855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2026/02/10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4678" y="2787152"/>
            <a:ext cx="13493485" cy="258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49"/>
              </a:lnSpc>
            </a:pPr>
            <a:r>
              <a:rPr lang="en-US" sz="19549" b="1" spc="-97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787</Words>
  <Application>Microsoft Macintosh PowerPoint</Application>
  <PresentationFormat>사용자 지정</PresentationFormat>
  <Paragraphs>85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Montserrat Bold</vt:lpstr>
      <vt:lpstr>Calibri</vt:lpstr>
      <vt:lpstr>Lato</vt:lpstr>
      <vt:lpstr>Arial</vt:lpstr>
      <vt:lpstr>Lato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팀미션:코로나19 대기보드 발표안</dc:title>
  <cp:lastModifiedBy>호림 최</cp:lastModifiedBy>
  <cp:revision>3</cp:revision>
  <dcterms:created xsi:type="dcterms:W3CDTF">2006-08-16T00:00:00Z</dcterms:created>
  <dcterms:modified xsi:type="dcterms:W3CDTF">2026-02-10T10:15:59Z</dcterms:modified>
  <dc:identifier>DAHA1ak-PNo</dc:identifier>
</cp:coreProperties>
</file>